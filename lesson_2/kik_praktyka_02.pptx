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Одразу задати темп: слайд — і за клавіатуру. Теорії мінімум, усе перевіряємо кодом.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Проговорити темп. Попередити, що останній блок (рядки) може піти на домашнє.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Швидко пройти по аудиторії: у кого не запускається — вирішити зараз, потім буде пізно.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живцем обидві помилки: без лапок і без дужок.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Поки студенти пишуть — обійти аудиторію. Типова помилка: кирилиця в іменах змінних, забуті лапки.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Показати, що станеться після print = 5 — далі print() перестане працювати. Наочно.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Нагадати слайд про 0.1+0.2 з першої пари: float — наближення, тому не порівнюємо через ==.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в терміналі обидві помилки і як їх виправити.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Тут уперше зустрічається round у виводі. Нагадати правило трьох знаків із першої пари.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Запустити приклад із помилкою TypeError навмисне — щоб побачили повідомлення.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Цей чотирикроковий шаблон повторюватиметься в усіх наступних роботах.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Перевірка на −40 — красива: збігаються обидві шкали. Хто зробив швидко, хай додасть шкалу Ренкіна.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різницю: print("5" + "3") дає 53, а print(5 + 3) дає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Наголосити: округлення тільки у виводі. У змінній лишається повна точність.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Показати автодоповнення після крапки — студентам це подобається й економить час.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Наголосити: права межа зрізу не включається. Це джерело помилок на одиницю.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Тут уперше з'являється список як результат split. Не розгортати тему — просто показати доступ за індексом.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Навмисне зробити помилку й розібрати traceback разом — це знімає страх перед червоним текстом.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Нагадати про коміт із осмисленим описом. Перевірка домашнього — на початку наступної пари.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777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Практичне заняття №2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1188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Ввід і вивід. Типи даних.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Рядки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74320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більшу частину пари пишемо код у VS Code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77240" y="3794760"/>
            <a:ext cx="6949440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379476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print()  →  змінні  →  int / float  →  input()  →  рядки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3210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демо-скрипти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5526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— окремо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23560" y="4709160"/>
            <a:ext cx="219456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78424" y="470916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матеріали в Git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працюємо сьогодні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Короткий слайд — і одразу пишемо код; так п'ять разів за пару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Вивід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print(), кілька значень, sep і end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47472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7588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й числа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67588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імена, int, float, арифметика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87044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7220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7336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Ввід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37336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input() і перетворення типів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567928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869680" y="1554480"/>
            <a:ext cx="2468880" cy="1691640"/>
          </a:xfrm>
          <a:prstGeom prst="roundRect">
            <a:avLst>
              <a:gd name="adj" fmla="val 48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070848" y="1719072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Рядки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070848" y="2121408"/>
            <a:ext cx="20665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f-рядки, методи, індекси та зрізи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3520440"/>
            <a:ext cx="106070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51560" y="3675888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роботи на парі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051560" y="4041648"/>
            <a:ext cx="9966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набираємо руками, не копіюємо — так запам'ятовується синтаксис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після кожного завдання запускаємо файл і дивимося результат у панелі Terminal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помилка на екрані — це нормально; читаємо повідомлення й виправляємо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встигаєте — не поспішайте, доробите вдома; головне зрозуміти, а не встигнути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Перевірка готовності — 2 хвилини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Робимо разом, перш ніж почати нову тему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600200"/>
            <a:ext cx="548640" cy="658368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6002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6367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Відкрити теку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1947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VS Code: File → Open Folder → Документи\kik-praktykum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2514600"/>
            <a:ext cx="548640" cy="658368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25146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25511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файл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28620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Створити теку praktyka_02 і файл demo_01_print.py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3429000"/>
            <a:ext cx="548640" cy="658368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429000"/>
            <a:ext cx="548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34655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запуск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37764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Написати print("ok") і натиснути кнопку ▷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720840" y="1600200"/>
            <a:ext cx="4663440" cy="2743200"/>
          </a:xfrm>
          <a:prstGeom prst="roundRect">
            <a:avLst>
              <a:gd name="adj" fmla="val 3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17647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щось не працює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2148840"/>
            <a:ext cx="4206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кнопки ▷ — не встановлено розширення Python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рядку стану напис Select Python Interpreter — натиснути й обрати версію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нічого не встановлено — сідайте в пару із сусідом, ставите паралельно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парі — чотири окремі файли demo_01…demo_04. Домашнє завдання виконується окремо.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ВИВІД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print()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Виводить у консоль усе, що вказано в дужках через кому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print("Привіт!")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Привіт!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кілька значень — через кому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print("Тиск:", 101325, "Па")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Тиск: 101325 Па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розділювач між значеннями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print("a", "b", "c", sep="-")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a-b-c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без переходу на новий рядок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print("Ціна:", end=" 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print(500)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Ціна: 500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варто помітити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1168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між значеннями print сам ставить пробіл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беремо в лапки, числа — ні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print — з нового рядка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3566160"/>
            <a:ext cx="4206240" cy="1874520"/>
          </a:xfrm>
          <a:prstGeom prst="roundRect">
            <a:avLst>
              <a:gd name="adj" fmla="val 439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3730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Часта помилка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4096512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print(Привіт) — без лапок Python шукає змінну з іменем Привіт і повідомляє NameError.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Розминка: вивід у консоль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demo_01_print.py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трьома окремими рядками: своє ПІБ, номер групи, свій номер у списку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рядок-роздільник із 30 символів «-» одним викликом print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назву й значення однієї фізичної величини в одному рядку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Запустити файл і перевірити результат у панелі Terminal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роздільник — повторення рядка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print("-" * 30)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кілька значень в одному рядку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print("Швидкість:", 250, "м/с")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змінити розділювач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print(2026, 9, 8, sep=".")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Змінна — це ім'я для значення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 дає змогу звертатися до значення й змінювати його в ході програми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5778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17550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створення: ім'я = значення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 = 36.6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"Гулевич"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= 25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використання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print(t_c)          # 36.6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зміна значення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t_c = t_c + 1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print(t_c)          # 37.6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1481328"/>
            <a:ext cx="4663440" cy="384048"/>
          </a:xfrm>
          <a:prstGeom prst="roundRect">
            <a:avLst>
              <a:gd name="adj" fmla="val 21429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720840" y="1481328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іменування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720840" y="1984248"/>
            <a:ext cx="4663440" cy="256032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49440" y="2176272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тільки латинські літери, цифри та підкреслення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може починатися з цифри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великі й малі літери різні: T і t — різні змінні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слова розділяємо підкресленням: speed_kmh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ім'я має пояснювати зміст, а не бути x1, aaa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663440"/>
            <a:ext cx="10607040" cy="868680"/>
          </a:xfrm>
          <a:prstGeom prst="roundRect">
            <a:avLst>
              <a:gd name="adj" fmla="val 9474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51560" y="46634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можна: 2t = 5 (починається з цифри) · швидкість = 5 (кирилиця) · print = 5 (перекриває вбудовану функцію)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числові типи: int і float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ціле, float — з дробовою частиною; від типу залежить результат операції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5778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1755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25            # int  — ціле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36.6          # float — дійсне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type(n)           # &lt;class 'int'&gt;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type(t)           # &lt;class 'float'&gt;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+ 2   # 9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7 - 2   # 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* 2   # 14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2   # 3.5    завжди float!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// 2  # 3      ціла частина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7 % 2   # 1      остача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** 10 # 1024   степінь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20840" y="1481328"/>
            <a:ext cx="4663440" cy="1965960"/>
          </a:xfrm>
          <a:prstGeom prst="roundRect">
            <a:avLst>
              <a:gd name="adj" fmla="val 418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49440" y="16459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Головне про ділення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949440" y="201168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Звичайне ділення / завжди дає float, навіть коли ділиться націло: 8 / 2 дорівнює 4.0, а не 4.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720840" y="3611880"/>
            <a:ext cx="4663440" cy="1847088"/>
          </a:xfrm>
          <a:prstGeom prst="roundRect">
            <a:avLst>
              <a:gd name="adj" fmla="val 4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49440" y="377647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це потрібно інженеру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4133088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— кількість вимірювань, номер каналу, індекс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— температура, тиск, швидкість, час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— визначення періодичності подій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ПЕРЕТВОРЕННЯ ТИПІВ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перевести значення з одного типу в інший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Знадобиться одразу, щойно почнемо читати дані з клавіатури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int("7")        # 7      рядок → ціле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float("3.5")    # 3.5    рядок → дійсне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str(25)         # "25"   число → рядок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float(7)        # 7.0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УВАГА: int відкидає дробову частину,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а не округлює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int(3.9)        # 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round(3.9)      # 4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round(3.456, 2) # 3.46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3246120"/>
          </a:xfrm>
          <a:prstGeom prst="roundRect">
            <a:avLst>
              <a:gd name="adj" fmla="val 253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спричиняє помилку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1168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int("3.5")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ValueError — int не приймає рядок із крапкою. Спочатку float, потім за потреби int.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"5" + 3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TypeError — рядок і число не додаються. Треба int("5") + 3.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спершу перетворити тип, потім рахувати. Тип перевіряємо функцією type().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Обчислення зі змінними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demo_02_numbers.py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Задати змінними довжину і ширину аудиторії в метрах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Обчислити площу та периметр, зберегти в окремі змінні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обидва результати з точністю 2 знаки після коми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Додатково: обчислити, скільки цілих столів 1,2 м × 0,6 м уміститься за площею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 = 8.5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 = 6.2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area = length * width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perimeter = 2 * (length + width)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print("Площа:", round(area, 2), "м2")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ціла кількість — через //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tables = int(area // (1.2 * 0.6))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ВВІД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input() завжди повертає рядок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найчастіша причина помилок у початківців — запам'ятати одразу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063240"/>
          </a:xfrm>
          <a:prstGeom prst="roundRect">
            <a:avLst>
              <a:gd name="adj" fmla="val 268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2807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input("Введіть ім'я: 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print("Привіт,", name)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type(name)      # &lt;class 'str'&gt;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навіть якщо ввели число: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input("Вік: 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type(age)       # &lt;class 'str'&gt;  ← не int!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print(age + 1)  # TypeError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3063240"/>
          </a:xfrm>
          <a:prstGeom prst="roundRect">
            <a:avLst>
              <a:gd name="adj" fmla="val 268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це працює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11680"/>
            <a:ext cx="3749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у дужках виводиться як підказка користувачеві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програма зупиняється й чекає на Enter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 введене повертається як рядок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щоб рахувати — перетворюємо тип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input() — це завжди текст. Хочете рахувати — обгортайте у float() або int().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ВВІД ЧИСЕЛ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Правильне читання числа з клавіатури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Перетворення типу виконуємо одразу під час читання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2697480"/>
          </a:xfrm>
          <a:prstGeom prst="roundRect">
            <a:avLst>
              <a:gd name="adj" fmla="val 30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2441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дійсне число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float(input("Температура, °C: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ціле число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int(input("Кількість вимірювань: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тепер можна рахувати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t + 273.15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print(f"{t:.3f} °C = {k:.3f} K")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4343400"/>
            <a:ext cx="6035040" cy="1097280"/>
          </a:xfrm>
          <a:prstGeom prst="roundRect">
            <a:avLst>
              <a:gd name="adj" fmla="val 75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05840" y="444398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користувач вводить кому замість крапки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4754880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float(input("Значення: ").replace(",", "."))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178040" y="1481328"/>
            <a:ext cx="4206240" cy="3959352"/>
          </a:xfrm>
          <a:prstGeom prst="roundRect">
            <a:avLst>
              <a:gd name="adj" fmla="val 207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дій у програмі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2103120"/>
            <a:ext cx="374904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06640" y="21031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дані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2606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406640" y="2880360"/>
            <a:ext cx="374904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288036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Перетворити тип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052560" y="33832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406640" y="3657600"/>
            <a:ext cx="374904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6640" y="36576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Обчислити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9052560" y="416052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406640" y="4434840"/>
            <a:ext cx="3749040" cy="502920"/>
          </a:xfrm>
          <a:prstGeom prst="roundRect">
            <a:avLst>
              <a:gd name="adj" fmla="val 16364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44348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результат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Конвертор температури з вводом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demo_03_input.py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в користувача температуру в градусах Цельсія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Перетворити введене значення у float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Обчислити температуру в кельвінах і у градусах Фаренгейта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обидва результати з точністю 3 знаки після коми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87552" y="4828032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7552" y="48280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1554480" y="479145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Перевірити програму на значеннях 0, 36.6 і −40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Формули та підказка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  = °C + 273.15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°F = 1.8 * °C + 32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float(input("Температура, °C: "))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= ...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 = ...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print(f"{t:.3f} °C = {k:.3f} K")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−40 °C і −40 °F — однакові.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Це зручна перевірка програми.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Рядок — послідовність символів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str; лапки можуть бути подвійні або одинарні, головне — парні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3721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"Гулевич"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'Михайло'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len(s)              # 7   довжина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+ " " + name      # "Гулевич Михайло"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"-" * 20            # 20 дефісів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лапки всередині рядка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print("він сказав \"так\"")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print('він сказав "так"')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перехід на новий рядок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print("рядок 1\nрядок 2")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1965960"/>
          </a:xfrm>
          <a:prstGeom prst="roundRect">
            <a:avLst>
              <a:gd name="adj" fmla="val 4186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Дві дії з рядками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29968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склеює рядки (конкатенація)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повторює рядок задану кількість разів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178040" y="3611880"/>
            <a:ext cx="4206240" cy="1847088"/>
          </a:xfrm>
          <a:prstGeom prst="roundRect">
            <a:avLst>
              <a:gd name="adj" fmla="val 445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06640" y="37764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Пастка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4133088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"Вік: " + 25 не працює. Число треба перетворити: "Вік: " + str(25). Або скористатися f-рядком — так простіше.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ФОРМАТУВАННЯ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f-рядки — головний інструмент виводу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Літера f перед лапками дає змогу вставляти значення просто в текст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6118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3355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"Михайло"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2 / 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f"Привіт, {name}!"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Привіт, Михайло!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f"{x}"           # 0.6666666666666666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f"{x:.3f}"       # 0.667   три знаки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f"{x:.1%}"       # 66.7%   у відсотках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всередині можна рахувати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f"Периметр: {2 * (8.5 + 6.2):.2f} м"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3611880"/>
          </a:xfrm>
          <a:prstGeom prst="roundRect">
            <a:avLst>
              <a:gd name="adj" fmla="val 2278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саме так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11680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треба перетворювати числа через str()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точність задається прямо у виводі, а не в розрахунку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читається як звичайне речення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формат, який ми використовуємо в усіх звітах курсу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Вимога курсу: числові результати виводимо у вигляді f"{x:.3f}" і завжди з одиницею виміру.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РЯДКІВ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дії над рядком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записується через крапку після рядка або змінної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603504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78408" y="1609344"/>
            <a:ext cx="563270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  Hello World  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s.strip()           # "Hello World"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s.upper()           # "  HELLO WORLD  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s.lower()           # "  hello world  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s.replace("World", "Python")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s.count("l")        # 3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"a,b,c".split(",")  # ['a', 'b', 'c']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"Гулевич".startswith("Г")   # True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78040" y="1481328"/>
            <a:ext cx="4206240" cy="3246120"/>
          </a:xfrm>
          <a:prstGeom prst="roundRect">
            <a:avLst>
              <a:gd name="adj" fmla="val 2535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0664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Важлива властивість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406640" y="2011680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Методи не змінюють початковий рядок, а повертають новий. Щоб зберегти результат, його треба присвоїти: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06640" y="3063240"/>
            <a:ext cx="37490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589520" y="3182112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s.upper()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сам s не змінився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s.upper()</a:t>
            </a:r>
            <a:endParaRPr lang="en-US" sz="11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тепер змінився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VS Code наберіть крапку після імені рядка — редактор сам покаже список доступних методів.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ІНДЕКСИ ТА ЗРІЗИ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до окремих символів рядка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Нумерація починається з нуля — це стандарт у програмуванні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417320" y="1600200"/>
            <a:ext cx="868680" cy="731520"/>
          </a:xfrm>
          <a:prstGeom prst="roundRect">
            <a:avLst>
              <a:gd name="adj" fmla="val 1125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17320" y="16002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-6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68880" y="1600200"/>
            <a:ext cx="868680" cy="731520"/>
          </a:xfrm>
          <a:prstGeom prst="roundRect">
            <a:avLst>
              <a:gd name="adj" fmla="val 1125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68880" y="16002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520440" y="1600200"/>
            <a:ext cx="868680" cy="731520"/>
          </a:xfrm>
          <a:prstGeom prst="roundRect">
            <a:avLst>
              <a:gd name="adj" fmla="val 1125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20440" y="16002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3520440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600200"/>
            <a:ext cx="868680" cy="731520"/>
          </a:xfrm>
          <a:prstGeom prst="roundRect">
            <a:avLst>
              <a:gd name="adj" fmla="val 1125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16002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623560" y="1600200"/>
            <a:ext cx="868680" cy="731520"/>
          </a:xfrm>
          <a:prstGeom prst="roundRect">
            <a:avLst>
              <a:gd name="adj" fmla="val 1125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623560" y="16002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0" y="1600200"/>
            <a:ext cx="868680" cy="731520"/>
          </a:xfrm>
          <a:prstGeom prst="roundRect">
            <a:avLst>
              <a:gd name="adj" fmla="val 11250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16002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675120" y="237744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675120" y="265176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-1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777240" y="237744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індекс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777240" y="26517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 кінця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" y="3154680"/>
            <a:ext cx="10607040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78408" y="3282696"/>
            <a:ext cx="10204704" cy="1984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"Python"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s[0]      # 'P'   перший символ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s[-1]     # 'n'   останній символ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s[0:3]    # 'Pyt' від 0 до 3 (не включно)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s[:3]     # 'Pyt' від початку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s[3:]     # 'hon' до кінця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s[::-1]   # 'nohtyP' у зворотному порядку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КОДУ · ЗАВДАННЯ 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Робота з рядками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хвилин · файл demo_04_strings.py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3492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349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зробити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3492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194560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7552" y="2194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15798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Запитати ПІБ одним рядком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7552" y="2852928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87552" y="2852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1554480" y="281635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Прибрати зайві пробіли по краях і вивести результат великими літерами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87552" y="35112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87552" y="3511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347472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Вивести кількість символів у введеному тексті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87552" y="4169664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87552" y="4169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13308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Розділити рядок на окремі слова та вивести ініціали у вигляді «Г. М. В.»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1481328"/>
            <a:ext cx="48920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1481328"/>
            <a:ext cx="4892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Підказка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1984248"/>
            <a:ext cx="4892040" cy="3337560"/>
          </a:xfrm>
          <a:prstGeom prst="roundRect">
            <a:avLst>
              <a:gd name="adj" fmla="val 246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93408" y="2112264"/>
            <a:ext cx="4489704" cy="3081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= input("Введіть ПІБ: ").strip()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print(full.upper())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print("Символів:", len(full))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parts = full.split()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parts — список слів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A677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перша літера кожного слова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720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print(parts[0][0], parts[1][0])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ПОМИЛКИ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помилки, які трапляються найчастіше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Повідомлення про помилку — це підказка, а не покарання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0584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Порушено синтаксис: пропущена дужка, лапка або двокрапка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print("Привіт"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148132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55080" y="159105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93852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Використано ім'я, якого не існує: друкарська помилка або забуте лапки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41401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print(pryvit)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7724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584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TypeError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05840" y="3447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Операція між несумісними типами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"Вік: " + 25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126480" y="2990088"/>
            <a:ext cx="5120640" cy="1325880"/>
          </a:xfrm>
          <a:prstGeom prst="roundRect">
            <a:avLst>
              <a:gd name="adj" fmla="val 6207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3099816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34472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правильний, а значення — ні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92277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int("3.5")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77240" y="4572000"/>
            <a:ext cx="106070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51560" y="4663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читати повідомлення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497433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Читаємо знизу вгору: останній рядок називає тип помилки та її причину, а рядок вище показує номер рядка у вашому файлі, де вона виникла.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11887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ЗДАТИ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65760"/>
            <a:ext cx="10972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заняття та домашнє завдання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94360" y="877824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7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Дедлайн — до початку наступного заняття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75488" y="6473952"/>
            <a:ext cx="11237976" cy="0"/>
          </a:xfrm>
          <a:prstGeom prst="line">
            <a:avLst/>
          </a:prstGeom>
          <a:noFill/>
          <a:ln w="9525">
            <a:solidFill>
              <a:srgbClr val="D7DE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65105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Комп'ютерно-інтегровані системи · Практикум на Python · Практичне заняття 2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0698480" y="6510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7772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парі · demo_01 … demo_04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0515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окремі файли, по одному на кожне завдання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файл запускається самостійно й без помилок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числові результати виведені через f-рядок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готові версії будуть у репозиторії курсу після пари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1481328"/>
            <a:ext cx="5120640" cy="384048"/>
          </a:xfrm>
          <a:prstGeom prst="roundRect">
            <a:avLst>
              <a:gd name="adj" fmla="val 21429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· task_02.py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984248"/>
            <a:ext cx="5120640" cy="2788920"/>
          </a:xfrm>
          <a:prstGeom prst="roundRect">
            <a:avLst>
              <a:gd name="adj" fmla="val 295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37960" y="2176272"/>
            <a:ext cx="4572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окреме завдання, не повторення того, що робили на парі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конвертор температури, паспорт вимірювального каналу, розбір серійного номера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умова — у репозиторії, тека kik-praktykum/praktyka_02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72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здача: коміт і git push до початку наступного заняття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4937760"/>
            <a:ext cx="10607040" cy="566928"/>
          </a:xfrm>
          <a:prstGeom prst="roundRect">
            <a:avLst>
              <a:gd name="adj" fmla="val 1451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9377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E40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Усі матеріали курсу: github.com/hulevych93/Computer_Integrated_Systems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22960" y="5742432"/>
            <a:ext cx="10543032" cy="54864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5742432"/>
            <a:ext cx="101772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Наступне заняття: логічні операції, порівняння та розгалуження if / else.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2026-09-08T18:26:24Z</dcterms:created>
  <dcterms:modified xsi:type="dcterms:W3CDTF">2026-09-08T18:26:24Z</dcterms:modified>
</cp:coreProperties>
</file>