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229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Ключова думка заняття: досі програма виконувалася згори вниз без варіантів. Сьогодні з'являється вибір.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Одразу показати кінцеву мету — демо_04. Студентам легше, коли видно, до чого йдемо.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в терміналі type(5 &gt; 3). Наголосити на великій літері в True/False.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Нагадати слайд з першого заняття. Цілі числа порівнювати через == можна, дійсні — ні.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Наприкінці показати, що регістр має значення: "Іван" != "іван". Підводка до .lower() при валідації.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на реальному прикладі: умова «параметр у робочому діапазоні» — це and двох порівнянь.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Ланцюжок — улюблена фішка Python. Але в інших мовах його немає, тому варто знати обидва записи.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Головне, що має лишитися: результат умови можна зберегти у змінну і вивести — це звичайне значення.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VS Code сам ставить відступ після двокрапки. Показати, що станеться, якщо його прибрати.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Дати відчути різницю між двома окремими if і парою if/else — це різна логіка.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Розібрати помилковий приклад на дошці: підставити t = 150 і простежити, куди піде виконання.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перевантажувати: match дають оглядово. Головне — студент має розуміти, що для діапазонів залишається if/elif.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Наполягти на перевірці всіх гілок. Це перша програма, де недостатньо запустити один раз.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Уставки виносимо у змінні ВЕЛИКИМИ літерами — це сталі. Змінити діапазон тепер можна в одному місці.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ZeroDivisionError живцем, потім додати перевірку.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прообраз реальної системи сигналізації. Наприкінці — хто встиг, додає третій рівень уставок.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в рядку стану VS Code перемикач Spaces: 4. Одразу перевірити в усіх.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Нагадати: у домашньому третє завдання складніше, воно на комбінацію умов. Починати не в останній вечір.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Практичне заняття №3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Логічні операції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розгалуження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 вперше починає ухвалювати рішення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3794760"/>
            <a:ext cx="7223760" cy="566928"/>
          </a:xfrm>
          <a:prstGeom prst="roundRect">
            <a:avLst>
              <a:gd name="adj" fmla="val 1451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777240" y="379476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порівняння  →  bool  →  and / or / not  →  if / elif / else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470916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 txBox="1"/>
          <p:nvPr/>
        </p:nvSpPr>
        <p:spPr>
          <a:xfrm>
            <a:off x="832104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демо-скрипти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470916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0" name="Text 8"/>
          <p:cNvSpPr txBox="1"/>
          <p:nvPr/>
        </p:nvSpPr>
        <p:spPr>
          <a:xfrm>
            <a:off x="3255264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— окремо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470916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 txBox="1"/>
          <p:nvPr/>
        </p:nvSpPr>
        <p:spPr>
          <a:xfrm>
            <a:off x="5678424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матеріали в Git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4" name="Text 12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3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працюємо сьогодні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ритм: короткий слайд — і за клавіатуру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3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97840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оператори порівняння, тип bool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7296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7472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 txBox="1"/>
          <p:nvPr/>
        </p:nvSpPr>
        <p:spPr>
          <a:xfrm>
            <a:off x="367588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Логіка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not, ланцюжки умов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7044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 txBox="1"/>
          <p:nvPr/>
        </p:nvSpPr>
        <p:spPr>
          <a:xfrm>
            <a:off x="637336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Розгалуження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7336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elif, else, відступи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6792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6968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 txBox="1"/>
          <p:nvPr/>
        </p:nvSpPr>
        <p:spPr>
          <a:xfrm>
            <a:off x="907084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Застосування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7084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параметра датчика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352044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4" name="Text 22"/>
          <p:cNvSpPr txBox="1"/>
          <p:nvPr/>
        </p:nvSpPr>
        <p:spPr>
          <a:xfrm>
            <a:off x="1005840" y="36758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знадобиться з минулого заняття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04164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і перетворення типів float() / int()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f-рядки для виводу з точністю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 рядків та зрізи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352044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7" name="Text 25"/>
          <p:cNvSpPr txBox="1"/>
          <p:nvPr/>
        </p:nvSpPr>
        <p:spPr>
          <a:xfrm>
            <a:off x="6492240" y="36758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заняття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04164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Програма, яка сама визначає стан технічного параметра: норма, попередження чи аварія — і реагує по-різному залежно від результату.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BOOL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Логічний тип: True і False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будь-якого порівняння — значення типу bool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3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57784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978408" y="1609344"/>
            <a:ext cx="5175504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 &gt; 3)        # True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 &lt; 3)        # False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5 &gt; 3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print(type(result)) # &lt;class 'bool'&gt;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і False — з великої літери,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це не рядки і не беруться в лапки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 = True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у розрахунках поводяться як 1 і 0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print(True + True)  #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1691640"/>
            <a:ext cx="2148840" cy="914400"/>
          </a:xfrm>
          <a:prstGeom prst="roundRect">
            <a:avLst>
              <a:gd name="adj" fmla="val 9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 txBox="1"/>
          <p:nvPr/>
        </p:nvSpPr>
        <p:spPr>
          <a:xfrm>
            <a:off x="6775704" y="169164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89720" y="1691640"/>
            <a:ext cx="2148840" cy="914400"/>
          </a:xfrm>
          <a:prstGeom prst="roundRect">
            <a:avLst>
              <a:gd name="adj" fmla="val 9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 txBox="1"/>
          <p:nvPr/>
        </p:nvSpPr>
        <p:spPr>
          <a:xfrm>
            <a:off x="9244584" y="169164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720840" y="2834640"/>
            <a:ext cx="4617720" cy="2258568"/>
          </a:xfrm>
          <a:prstGeom prst="roundRect">
            <a:avLst>
              <a:gd name="adj" fmla="val 36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6949440" y="298094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беруться bool у програмі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3346704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порівняння: t &gt; 100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логічної операції: a and b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методу: "ABC".startswith("A")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 у технічній системі: увімкнено / вимкнено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Саме значення bool далі керує тим, яку гілку програми буде виконано.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Шість операторів порівняння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Порівнювати можна числа, рядки та логічні значення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3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Shape 7"/>
          <p:cNvSpPr/>
          <p:nvPr/>
        </p:nvSpPr>
        <p:spPr>
          <a:xfrm>
            <a:off x="914400" y="1581912"/>
            <a:ext cx="731520" cy="420624"/>
          </a:xfrm>
          <a:prstGeom prst="roundRect">
            <a:avLst>
              <a:gd name="adj" fmla="val 1956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0" name="Text 8"/>
          <p:cNvSpPr txBox="1"/>
          <p:nvPr/>
        </p:nvSpPr>
        <p:spPr>
          <a:xfrm>
            <a:off x="914400" y="158191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148132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дорівнює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148132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 5  →  True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481328"/>
            <a:ext cx="51206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4" name="Shape 12"/>
          <p:cNvSpPr/>
          <p:nvPr/>
        </p:nvSpPr>
        <p:spPr>
          <a:xfrm>
            <a:off x="6263640" y="1581912"/>
            <a:ext cx="731520" cy="420624"/>
          </a:xfrm>
          <a:prstGeom prst="roundRect">
            <a:avLst>
              <a:gd name="adj" fmla="val 1956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6263640" y="158191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148132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дорівнює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418320" y="148132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!= 3  →  True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2212848"/>
            <a:ext cx="51206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9" name="Shape 17"/>
          <p:cNvSpPr/>
          <p:nvPr/>
        </p:nvSpPr>
        <p:spPr>
          <a:xfrm>
            <a:off x="914400" y="2313432"/>
            <a:ext cx="731520" cy="420624"/>
          </a:xfrm>
          <a:prstGeom prst="roundRect">
            <a:avLst>
              <a:gd name="adj" fmla="val 1956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0" name="Text 18"/>
          <p:cNvSpPr txBox="1"/>
          <p:nvPr/>
        </p:nvSpPr>
        <p:spPr>
          <a:xfrm>
            <a:off x="914400" y="231343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783080" y="22128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більше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221284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&gt; 3  →  True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26480" y="2212848"/>
            <a:ext cx="51206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4" name="Shape 22"/>
          <p:cNvSpPr/>
          <p:nvPr/>
        </p:nvSpPr>
        <p:spPr>
          <a:xfrm>
            <a:off x="6263640" y="2313432"/>
            <a:ext cx="731520" cy="420624"/>
          </a:xfrm>
          <a:prstGeom prst="roundRect">
            <a:avLst>
              <a:gd name="adj" fmla="val 1956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5" name="Text 23"/>
          <p:cNvSpPr txBox="1"/>
          <p:nvPr/>
        </p:nvSpPr>
        <p:spPr>
          <a:xfrm>
            <a:off x="6263640" y="231343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22128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221284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&lt; 3  →  False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" y="2944368"/>
            <a:ext cx="51206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9" name="Shape 27"/>
          <p:cNvSpPr/>
          <p:nvPr/>
        </p:nvSpPr>
        <p:spPr>
          <a:xfrm>
            <a:off x="914400" y="3044952"/>
            <a:ext cx="731520" cy="420624"/>
          </a:xfrm>
          <a:prstGeom prst="roundRect">
            <a:avLst>
              <a:gd name="adj" fmla="val 1956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0" name="Text 28"/>
          <p:cNvSpPr txBox="1"/>
          <p:nvPr/>
        </p:nvSpPr>
        <p:spPr>
          <a:xfrm>
            <a:off x="914400" y="304495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783080" y="294436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більше або дорівнює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069080" y="294436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&gt;= 5  →  True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26480" y="2944368"/>
            <a:ext cx="51206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4" name="Shape 32"/>
          <p:cNvSpPr/>
          <p:nvPr/>
        </p:nvSpPr>
        <p:spPr>
          <a:xfrm>
            <a:off x="6263640" y="3044952"/>
            <a:ext cx="731520" cy="420624"/>
          </a:xfrm>
          <a:prstGeom prst="roundRect">
            <a:avLst>
              <a:gd name="adj" fmla="val 1956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5" name="Text 33"/>
          <p:cNvSpPr txBox="1"/>
          <p:nvPr/>
        </p:nvSpPr>
        <p:spPr>
          <a:xfrm>
            <a:off x="6263640" y="304495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132320" y="294436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 або дорівнює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418320" y="294436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&lt;= 5  →  True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77240" y="3767328"/>
            <a:ext cx="10607040" cy="1691640"/>
          </a:xfrm>
          <a:prstGeom prst="roundRect">
            <a:avLst>
              <a:gd name="adj" fmla="val 48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9" name="Text 37"/>
          <p:cNvSpPr txBox="1"/>
          <p:nvPr/>
        </p:nvSpPr>
        <p:spPr>
          <a:xfrm>
            <a:off x="1051560" y="389534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Пастка: порівняння дійсних чисел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4261104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 + 0.2 == 0.3</a:t>
            </a: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дає  </a:t>
            </a: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через двійкове наближення float, про яке говорили на першому занятті.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Правильно порівнювати через допуск:  </a:t>
            </a: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abs(a - b) &lt; 1e-9</a:t>
            </a: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або   </a:t>
            </a: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math.isclose(a, b)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та bool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хвилин · файл demo_01_comparison.py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3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Запитати два числа й вивести результат усіх шести порівнянь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тип результату одного з порівнянь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Перевірити, чи дорівнює 0.1 + 0.2 значенню 0.3 — через == і через допуск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Порівняти два рядки: чи однакові введені прізвища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4" name="Text 22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6" name="Text 24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float(input("a = "))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float(input("b = "))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 == b:", a == b)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 &gt;  b:", a &gt; b)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порівняння з допуском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print(abs((0.1 + 0.2) - 0.3) &lt; 1e-9)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рядки порівнюються посимвольно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print("Іван" == "іван")   # False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ЛОГІЧНІ ОПЕРАЦІЇ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not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Дають змогу поєднати кілька умов в одну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3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3291840" cy="3017520"/>
          </a:xfrm>
          <a:prstGeom prst="roundRect">
            <a:avLst>
              <a:gd name="adj" fmla="val 272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1005840" y="16276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0848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тільки якщо обидві умови істинні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2834640"/>
            <a:ext cx="28346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 txBox="1"/>
          <p:nvPr/>
        </p:nvSpPr>
        <p:spPr>
          <a:xfrm>
            <a:off x="1143000" y="2962656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and True → True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and False → False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and False → False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1481328"/>
            <a:ext cx="3291840" cy="3017520"/>
          </a:xfrm>
          <a:prstGeom prst="roundRect">
            <a:avLst>
              <a:gd name="adj" fmla="val 2727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4" name="Text 12"/>
          <p:cNvSpPr txBox="1"/>
          <p:nvPr/>
        </p:nvSpPr>
        <p:spPr>
          <a:xfrm>
            <a:off x="4617720" y="16276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0848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якщо істинна хоча б одна умова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2834640"/>
            <a:ext cx="28346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 txBox="1"/>
          <p:nvPr/>
        </p:nvSpPr>
        <p:spPr>
          <a:xfrm>
            <a:off x="4754880" y="2962656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or False → True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or True → True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or False → False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01000" y="1481328"/>
            <a:ext cx="3291840" cy="3017520"/>
          </a:xfrm>
          <a:prstGeom prst="roundRect">
            <a:avLst>
              <a:gd name="adj" fmla="val 2727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9" name="Text 17"/>
          <p:cNvSpPr txBox="1"/>
          <p:nvPr/>
        </p:nvSpPr>
        <p:spPr>
          <a:xfrm>
            <a:off x="8229600" y="16276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20848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Змінює значення на протилежне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0" y="2834640"/>
            <a:ext cx="28346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2" name="Text 20"/>
          <p:cNvSpPr txBox="1"/>
          <p:nvPr/>
        </p:nvSpPr>
        <p:spPr>
          <a:xfrm>
            <a:off x="8366760" y="2962656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True → False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False → True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4663440"/>
            <a:ext cx="10607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4" name="Text 22"/>
          <p:cNvSpPr txBox="1"/>
          <p:nvPr/>
        </p:nvSpPr>
        <p:spPr>
          <a:xfrm>
            <a:off x="978408" y="4791456"/>
            <a:ext cx="102047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55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 &gt; 0 and t &lt; 100)    # True  — у межах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 &lt; 0 or t &gt; 100)     # False — поза межами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 (t &gt; 100))        # True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ЛАНЦЮЖКИ УМОВ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записати «значення в діапазоні»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дозволяє коротший запис, ніж більшість мов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3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57784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978408" y="1609344"/>
            <a:ext cx="5175504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довгий запис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 &gt;= -40 and t &lt;= 60: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короткий — так само працює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-40 &lt;= t &lt;= 60: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поза діапазоном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 &lt; -40 or t &gt; 60: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4251960"/>
            <a:ext cx="5577840" cy="1188720"/>
          </a:xfrm>
          <a:prstGeom prst="roundRect">
            <a:avLst>
              <a:gd name="adj" fmla="val 6923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 txBox="1"/>
          <p:nvPr/>
        </p:nvSpPr>
        <p:spPr>
          <a:xfrm>
            <a:off x="1005840" y="43708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Читається як математичний запис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68172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Ланцюжок -40 &lt;= t &lt;= 60 повністю відповідає нерівності з технічної документації на датчик.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1481328"/>
            <a:ext cx="4663440" cy="384048"/>
          </a:xfrm>
          <a:prstGeom prst="roundRect">
            <a:avLst>
              <a:gd name="adj" fmla="val 21429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4" name="Text 12"/>
          <p:cNvSpPr txBox="1"/>
          <p:nvPr/>
        </p:nvSpPr>
        <p:spPr>
          <a:xfrm>
            <a:off x="6720840" y="14813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Пріоритет операцій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20840" y="1984248"/>
            <a:ext cx="4663440" cy="345643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6" name="Shape 14"/>
          <p:cNvSpPr/>
          <p:nvPr/>
        </p:nvSpPr>
        <p:spPr>
          <a:xfrm>
            <a:off x="6949440" y="2194560"/>
            <a:ext cx="457200" cy="420624"/>
          </a:xfrm>
          <a:prstGeom prst="roundRect">
            <a:avLst>
              <a:gd name="adj" fmla="val 1956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 txBox="1"/>
          <p:nvPr/>
        </p:nvSpPr>
        <p:spPr>
          <a:xfrm>
            <a:off x="6949440" y="219456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21945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2761488"/>
            <a:ext cx="457200" cy="420624"/>
          </a:xfrm>
          <a:prstGeom prst="roundRect">
            <a:avLst>
              <a:gd name="adj" fmla="val 1956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0" name="Text 18"/>
          <p:cNvSpPr txBox="1"/>
          <p:nvPr/>
        </p:nvSpPr>
        <p:spPr>
          <a:xfrm>
            <a:off x="6949440" y="27614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276148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9440" y="3328416"/>
            <a:ext cx="457200" cy="420624"/>
          </a:xfrm>
          <a:prstGeom prst="roundRect">
            <a:avLst>
              <a:gd name="adj" fmla="val 1956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3" name="Text 21"/>
          <p:cNvSpPr txBox="1"/>
          <p:nvPr/>
        </p:nvSpPr>
        <p:spPr>
          <a:xfrm>
            <a:off x="6949440" y="33284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332841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39776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покладайтеся на пріоритет — ставте дужки. Умова з дужками читається однозначно і вами, і тим, хто перевірятиме код: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4754880"/>
            <a:ext cx="4206240" cy="502920"/>
          </a:xfrm>
          <a:prstGeom prst="roundRect">
            <a:avLst>
              <a:gd name="adj" fmla="val 16364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7" name="Text 25"/>
          <p:cNvSpPr txBox="1"/>
          <p:nvPr/>
        </p:nvSpPr>
        <p:spPr>
          <a:xfrm>
            <a:off x="6949440" y="47548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&gt; 0) and (b &gt; 0)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Логічні умови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хвилин · файл demo_02_logic.py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3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Запитати температуру й перевірити, чи вона в робочому діапазоні −40…60 °C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Записати ту саму умову двома способами: через and і через ланцюжок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протилежну умову — вихід за межі — через or та через not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Додати другий параметр (тиск) і перевірити, чи обидва в нормі одночасно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4" name="Text 22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6" name="Text 24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float(input("Температура, °C: "))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in_range = t &gt;= -40 and t &lt;= 60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in_range_short = -40 &lt;= t &lt;= 60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print("У межах:", in_range)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print("Те саме:", in_range_short)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t &lt; -40 or t &gt; 60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print("Поза межами:", out)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print("Через not:", not in_range)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РОЗГАЛУЖЕННЯ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Конструкція if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коду виконується тільки тоді, коли умова істинна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3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5778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978408" y="1609344"/>
            <a:ext cx="517550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float(input("Температура, °C: "))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 &gt; 100: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print("Перевищення межі!")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print("Кінець перевірки")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5577840" cy="1737360"/>
          </a:xfrm>
          <a:prstGeom prst="roundRect">
            <a:avLst>
              <a:gd name="adj" fmla="val 473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 txBox="1"/>
          <p:nvPr/>
        </p:nvSpPr>
        <p:spPr>
          <a:xfrm>
            <a:off x="1005840" y="38221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обов'язкові елементи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1605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двокрапка в кінці рядка з умовою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відступ 4 пробіли перед кожним рядком тіла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1481328"/>
            <a:ext cx="46634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4" name="Text 12"/>
          <p:cNvSpPr txBox="1"/>
          <p:nvPr/>
        </p:nvSpPr>
        <p:spPr>
          <a:xfrm>
            <a:off x="6720840" y="14813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робить відступ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20840" y="1984248"/>
            <a:ext cx="4663440" cy="345643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6" name="Text 14"/>
          <p:cNvSpPr txBox="1"/>
          <p:nvPr/>
        </p:nvSpPr>
        <p:spPr>
          <a:xfrm>
            <a:off x="6949440" y="21488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Відступ визначає, що входить у тіло умови. У Python це не оформлення, а частина синтаксису: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49440" y="2880360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 txBox="1"/>
          <p:nvPr/>
        </p:nvSpPr>
        <p:spPr>
          <a:xfrm>
            <a:off x="7114032" y="2980944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 &gt; 100: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print("A")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print("B")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обидва рядки в умові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4069080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0" name="Text 18"/>
          <p:cNvSpPr txBox="1"/>
          <p:nvPr/>
        </p:nvSpPr>
        <p:spPr>
          <a:xfrm>
            <a:off x="7114032" y="4169664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 &gt; 100: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print("A")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print("B")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 виконається завжди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Дві взаємовиключні гілки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виконується тоді й тільки тоді, коли умова хибна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3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5778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978408" y="1609344"/>
            <a:ext cx="517550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float(input("Температура, °C: "))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-40 &lt;= t &lt;= 60: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print("Параметр у нормі")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print("Параметр поза діапазоном")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17320" y="3840480"/>
            <a:ext cx="1463040" cy="566928"/>
          </a:xfrm>
          <a:prstGeom prst="roundRect">
            <a:avLst>
              <a:gd name="adj" fmla="val 1451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 txBox="1"/>
          <p:nvPr/>
        </p:nvSpPr>
        <p:spPr>
          <a:xfrm>
            <a:off x="1472184" y="384048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3547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44439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77640" y="3337560"/>
            <a:ext cx="1737360" cy="566928"/>
          </a:xfrm>
          <a:prstGeom prst="roundRect">
            <a:avLst>
              <a:gd name="adj" fmla="val 14516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4032504" y="33375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гілка if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977640" y="4343400"/>
            <a:ext cx="1737360" cy="566928"/>
          </a:xfrm>
          <a:prstGeom prst="roundRect">
            <a:avLst>
              <a:gd name="adj" fmla="val 1451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 txBox="1"/>
          <p:nvPr/>
        </p:nvSpPr>
        <p:spPr>
          <a:xfrm>
            <a:off x="4032504" y="43434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гілка else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8221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133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20840" y="1481328"/>
            <a:ext cx="46634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 txBox="1"/>
          <p:nvPr/>
        </p:nvSpPr>
        <p:spPr>
          <a:xfrm>
            <a:off x="6720840" y="14813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Важливо розуміти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720840" y="1984248"/>
            <a:ext cx="4663440" cy="345643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3" name="Text 21"/>
          <p:cNvSpPr txBox="1"/>
          <p:nvPr/>
        </p:nvSpPr>
        <p:spPr>
          <a:xfrm>
            <a:off x="6949440" y="219456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виконається рівно одна гілка — ніколи обидві й ніколи жодної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не має власної умови, лише двокрапку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не може стояти без if вище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тіло else має такий самий відступ 4 пробіли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завершення обох гілок програма йде далі спільним шляхом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Більше двох варіантів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Умови перевіряються згори вниз до першої істинної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3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577840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978408" y="1609344"/>
            <a:ext cx="517550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float(input("Температура, °C: "))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 &lt; -40: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print("Нижче робочого діапазону")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t &lt;= 60: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print("Норма")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t &lt;= 100: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print("Попередження")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print("Аварія")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4800600"/>
            <a:ext cx="5577840" cy="640080"/>
          </a:xfrm>
          <a:prstGeom prst="roundRect">
            <a:avLst>
              <a:gd name="adj" fmla="val 1285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 txBox="1"/>
          <p:nvPr/>
        </p:nvSpPr>
        <p:spPr>
          <a:xfrm>
            <a:off x="777240" y="48006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Щойно якась умова істинна — решта не перевіряється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20840" y="1481328"/>
            <a:ext cx="4663440" cy="3959352"/>
          </a:xfrm>
          <a:prstGeom prst="roundRect">
            <a:avLst>
              <a:gd name="adj" fmla="val 207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 txBox="1"/>
          <p:nvPr/>
        </p:nvSpPr>
        <p:spPr>
          <a:xfrm>
            <a:off x="6949440" y="16276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умов має значення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9933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поставити ширшу умову першою, вужча ніколи не спрацює: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2578608"/>
            <a:ext cx="4206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6" name="Text 14"/>
          <p:cNvSpPr txBox="1"/>
          <p:nvPr/>
        </p:nvSpPr>
        <p:spPr>
          <a:xfrm>
            <a:off x="7114032" y="2688336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 &gt; 50: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print("Попередження")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t &gt; 100: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print("Аварія")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ця гілка недосяжна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4133088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умови впорядковуємо від найвужчої до найширшої, а найзагальніший випадок лишаємо в else.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/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за значенням — аналог switch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одне значення треба порівняти з переліком варіантів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3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577840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978408" y="1609344"/>
            <a:ext cx="517550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= input("Код стану: ").strip().upper()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code: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"N":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print("Норма")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"W" | "P":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print("Попередження")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"A":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print("Аварія")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_: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print("Невідомий код")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4800600"/>
            <a:ext cx="5577840" cy="640080"/>
          </a:xfrm>
          <a:prstGeom prst="roundRect">
            <a:avLst>
              <a:gd name="adj" fmla="val 1285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 txBox="1"/>
          <p:nvPr/>
        </p:nvSpPr>
        <p:spPr>
          <a:xfrm>
            <a:off x="777240" y="48006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_  спрацьовує, коли не підійшов жоден варіант — це аналог else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20840" y="1481328"/>
            <a:ext cx="4663440" cy="384048"/>
          </a:xfrm>
          <a:prstGeom prst="roundRect">
            <a:avLst>
              <a:gd name="adj" fmla="val 21429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 txBox="1"/>
          <p:nvPr/>
        </p:nvSpPr>
        <p:spPr>
          <a:xfrm>
            <a:off x="6720840" y="14813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запису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20840" y="1984248"/>
            <a:ext cx="4663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6949440" y="2176272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двокрапка після match і після кожного case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значень в одному варіанті — через |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потрібен Python 3.10 або новіший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3840480"/>
            <a:ext cx="46634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 txBox="1"/>
          <p:nvPr/>
        </p:nvSpPr>
        <p:spPr>
          <a:xfrm>
            <a:off x="6720840" y="38404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що обирати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20840" y="4343400"/>
            <a:ext cx="46634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9" name="Text 17"/>
          <p:cNvSpPr txBox="1"/>
          <p:nvPr/>
        </p:nvSpPr>
        <p:spPr>
          <a:xfrm>
            <a:off x="6949440" y="4498848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порівняння з переліком конкретних значень: коди, режими, команди.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/ elif</a:t>
            </a: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діапазони й комбінації параметрів. Для діапазону в match потрібна додаткова умова: </a:t>
            </a: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n if n &gt; 100: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Розгалуження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хвилин · файл demo_03_if.py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3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Запитати температуру й вивести «Норма», якщо вона в діапазоні −40…60 °C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Додати гілку else для випадку поза діапазоном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Розширити до чотирьох станів: нижче діапазону, норма, попередження, аварія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програму на значеннях −50, 20, 80 і 150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7552" y="482803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4" name="Text 22"/>
          <p:cNvSpPr txBox="1"/>
          <p:nvPr/>
        </p:nvSpPr>
        <p:spPr>
          <a:xfrm>
            <a:off x="987552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79145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Додатково: за кодом стану N / W / A вивести повну назву через match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7" name="Text 25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9" name="Text 27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float(input("Температура, °C: "))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 &lt; -40: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print("Нижче діапазону")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t &lt;= 60: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print("Норма")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t &lt;= 100: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print("Попередження")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print("Аварія")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перевірте всі чотири гілки!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ЗАСТОСУВАННЯ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Типова задача: контроль параметра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Саме так побудовано будь-яку систему технологічної сигналізації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3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2423160" cy="1143000"/>
          </a:xfrm>
          <a:prstGeom prst="roundRect">
            <a:avLst>
              <a:gd name="adj" fmla="val 72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960120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Вимірювання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103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значення з датчика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66160" y="1600200"/>
            <a:ext cx="2423160" cy="1143000"/>
          </a:xfrm>
          <a:prstGeom prst="roundRect">
            <a:avLst>
              <a:gd name="adj" fmla="val 7200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 txBox="1"/>
          <p:nvPr/>
        </p:nvSpPr>
        <p:spPr>
          <a:xfrm>
            <a:off x="3703320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103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уставками діапазону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1600200"/>
            <a:ext cx="2423160" cy="1143000"/>
          </a:xfrm>
          <a:prstGeom prst="roundRect">
            <a:avLst>
              <a:gd name="adj" fmla="val 72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 txBox="1"/>
          <p:nvPr/>
        </p:nvSpPr>
        <p:spPr>
          <a:xfrm>
            <a:off x="6446520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103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52560" y="1600200"/>
            <a:ext cx="2423160" cy="1143000"/>
          </a:xfrm>
          <a:prstGeom prst="roundRect">
            <a:avLst>
              <a:gd name="adj" fmla="val 72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 txBox="1"/>
          <p:nvPr/>
        </p:nvSpPr>
        <p:spPr>
          <a:xfrm>
            <a:off x="9189720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Реакція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103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повідомлення або дія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2926080"/>
            <a:ext cx="10607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4" name="Text 22"/>
          <p:cNvSpPr txBox="1"/>
          <p:nvPr/>
        </p:nvSpPr>
        <p:spPr>
          <a:xfrm>
            <a:off x="978408" y="3054096"/>
            <a:ext cx="1020470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T_MIN, T_MAX = -40.0, 60.0        # уставки робочого діапазону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T_ALARM = 100.0                   # аварійна уставка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float(input("Температура, °C: "))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 &gt;= T_ALARM: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= "АВАРІЯ"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T_MIN &lt;= t &lt;= T_MAX: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= "НОРМА"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= "ПОПЕРЕДЖЕННЯ"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print(f"{t:.1f} °C — {state}")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ВАЛІДАЦІЯ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даних перед обчисленням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Погані вхідні дані — найчастіша причина неправильного результату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3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03504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978408" y="1609344"/>
            <a:ext cx="5632704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float(input("Температура, °C: "))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фізично неможливе значення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 &lt; -273.15: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print("Помилка: нижче абсолютного нуля")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= t + 273.15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print(f"{t:.3f} °C = {k:.3f} K")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78040" y="1481328"/>
            <a:ext cx="4206240" cy="2606040"/>
          </a:xfrm>
          <a:prstGeom prst="roundRect">
            <a:avLst>
              <a:gd name="adj" fmla="val 3158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 txBox="1"/>
          <p:nvPr/>
        </p:nvSpPr>
        <p:spPr>
          <a:xfrm>
            <a:off x="7406640" y="1627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перевіряють у реальних задачах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01168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фізичну допустимість значення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потрапляння в діапазон вимірювання приладу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ділення на нуль перед виконанням ділення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непорожній рядок перед доступом за індексом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297680"/>
            <a:ext cx="106070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4" name="Text 12"/>
          <p:cNvSpPr txBox="1"/>
          <p:nvPr/>
        </p:nvSpPr>
        <p:spPr>
          <a:xfrm>
            <a:off x="1051560" y="44074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Захист від ділення на нуль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7183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 != 0:</a:t>
            </a: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рахуємо  a / b   ·   </a:t>
            </a: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виводимо повідомлення. Без такої перевірки програма аварійно завершиться з ZeroDivisionError.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технологічного параметра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хвилин · файл demo_04_control.py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3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Винести уставки діапазону в окремі змінні великими літерами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Запитати назву параметра, одиницю виміру та виміряне значення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фізичну допустимість значення, інакше вивести повідомлення про помилку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Визначити стан: НОРМА, ПОПЕРЕДЖЕННЯ або АВАРІЯ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7552" y="482803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4" name="Text 22"/>
          <p:cNvSpPr txBox="1"/>
          <p:nvPr/>
        </p:nvSpPr>
        <p:spPr>
          <a:xfrm>
            <a:off x="987552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79145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підсумковий рядок із назвою, значенням, одиницею та станом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7" name="Text 25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9" name="Text 27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T_MIN, T_MAX = -40.0, 60.0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T_ALARM = 100.0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input("Параметр: ")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= input("Одиниця: ")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float(input("Значення: "))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 &gt;= T_ALARM: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= "АВАРІЯ"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...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print(f"{name}: {t:.1f} {unit} — {state}")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помилки саме цього заняття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вони трапляються в кожної групи — попереджені наперед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3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1005840" y="15910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замість ==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9385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Одне дорівнює — це присвоєння, а не порівняння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14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 = 100:   → SyntaxError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48132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 txBox="1"/>
          <p:nvPr/>
        </p:nvSpPr>
        <p:spPr>
          <a:xfrm>
            <a:off x="6355080" y="15910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Забута двокрапка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9385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умови обов'язкова двокрапка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414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 &gt; 100    → SyntaxError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299008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 txBox="1"/>
          <p:nvPr/>
        </p:nvSpPr>
        <p:spPr>
          <a:xfrm>
            <a:off x="1005840" y="3099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відступу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4472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Тіло умови має бути зсунуте на 4 пробіли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922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IndentationError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299008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 txBox="1"/>
          <p:nvPr/>
        </p:nvSpPr>
        <p:spPr>
          <a:xfrm>
            <a:off x="6355080" y="3099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Зайве порівняння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4472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 вже дає bool, порівнювати з True не треба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922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flag == True:  →  if flag: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4572000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5" name="Text 23"/>
          <p:cNvSpPr txBox="1"/>
          <p:nvPr/>
        </p:nvSpPr>
        <p:spPr>
          <a:xfrm>
            <a:off x="1051560" y="46634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змішуйте табуляцію і пробіли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97433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Візуально відступ виглядає однаково, а Python вважає це різними рівнями й повідомляє TabError. Налаштуйте VS Code так, щоб Tab вставляв 4 пробіли — це стандарт для Python.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ЗДАТИ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заняття та домашнє завдання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Дедлайн — до початку наступного заняття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3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 txBox="1"/>
          <p:nvPr/>
        </p:nvSpPr>
        <p:spPr>
          <a:xfrm>
            <a:off x="7772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парі · demo_01 … demo_04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1206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 txBox="1"/>
          <p:nvPr/>
        </p:nvSpPr>
        <p:spPr>
          <a:xfrm>
            <a:off x="1051560" y="2176272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окремі файли, по одному на кожне завдання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умова перевірена на всіх гілках, а не на одному значенні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уставки винесені у змінні, а не вписані в умову числами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готові версії будуть у репозиторії після пари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 txBox="1"/>
          <p:nvPr/>
        </p:nvSpPr>
        <p:spPr>
          <a:xfrm>
            <a:off x="62636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· task_03.py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984248"/>
            <a:ext cx="51206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 txBox="1"/>
          <p:nvPr/>
        </p:nvSpPr>
        <p:spPr>
          <a:xfrm>
            <a:off x="6537960" y="2176272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окреме завдання, не повторення того, що робили на парі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класифікатор режиму двигуна, перевірка серійного номера, оцінка стану системи за трьома параметрами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 — у теці kik-praktykum/praktyka</a:t>
            </a:r>
            <a:r>
              <a:rPr lang="en-US" sz="125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_03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937760"/>
            <a:ext cx="106070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 txBox="1"/>
          <p:nvPr/>
        </p:nvSpPr>
        <p:spPr>
          <a:xfrm>
            <a:off x="777240" y="4937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Усі матеріали курсу: github.com/hulevych93/Computer_Integrated_Systems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9" name="Text 17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 цикли for і while — повторення дій над набором вимірювань.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2715</Words>
  <Application>Microsoft Macintosh PowerPoint</Application>
  <PresentationFormat>Widescreen</PresentationFormat>
  <Paragraphs>456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Михайло Володимирович Гулевич</cp:lastModifiedBy>
  <cp:revision>2</cp:revision>
  <dcterms:created xsi:type="dcterms:W3CDTF">2026-09-17T20:11:39Z</dcterms:created>
  <dcterms:modified xsi:type="dcterms:W3CDTF">2026-09-20T08:12:33Z</dcterms:modified>
</cp:coreProperties>
</file>