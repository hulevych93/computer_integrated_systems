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6" r:id="rId5"/>
    <p:sldId id="267" r:id="rId6"/>
    <p:sldId id="268" r:id="rId7"/>
    <p:sldId id="272" r:id="rId8"/>
    <p:sldId id="273" r:id="rId9"/>
    <p:sldId id="259" r:id="rId10"/>
    <p:sldId id="261" r:id="rId11"/>
    <p:sldId id="262" r:id="rId12"/>
    <p:sldId id="263" r:id="rId13"/>
    <p:sldId id="264" r:id="rId14"/>
    <p:sldId id="276" r:id="rId15"/>
    <p:sldId id="274" r:id="rId16"/>
    <p:sldId id="27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60"/>
    <p:restoredTop sz="94610"/>
  </p:normalViewPr>
  <p:slideViewPr>
    <p:cSldViewPr snapToGrid="0" snapToObjects="1">
      <p:cViewPr>
        <p:scale>
          <a:sx n="111" d="100"/>
          <a:sy n="111" d="100"/>
        </p:scale>
        <p:origin x="-232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37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Знайомство. Наголосити: практикум веде до самостійного написання моделі технічної системи, а не до заучування меню програм.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Підкреслити зв'язок з майбутнім курсовим проектом: усі навички блоку А потрібні у блоці 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критикувати LabVIEW/MATLAB — вони чудові, але ліцензійні й вужчі за застосуванням.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Наголосити: пропущені заняття блоку А боляче б'ють по блоку Б, бо інструменти накопичуються.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Одразу проговорити дедлайн: до початку наступної пари.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Хто вже має щось встановлене — допомагає сусідам, поки решта ставить.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Аналогія: commit — це фотографія стану проєкту з підписом, що саме змінилося.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ті самі дії кнопками у вкладці Source Control у VS Code — багатьом так зручніше.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Зіставити з попереднім курсом КІК: та сама схема, але тепер дивимось на неї очима програміста.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Швидко опитати аудиторію: наведіть приклад величини, одиниці й точності для свого фаху.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Важливо: студент має розуміти, що комп'ютер не додає точності — він лише зберігає наявну.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живцем у Jupyter: 5/2 і 5//2, int('7') + 1.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вимога з методички; одразу привчаємо форматувати вивід, а не округляти проміжні значення.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Реалістично: на встановлення піде більша частина пари. Це нормально для першого заняття.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Створити разом репозиторій на GitHub і зробити перший коміт прямо на занятті.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дедлайн і адресу репозиторію групи.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81431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773195" y="1070836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4000" b="1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комплекси</a:t>
            </a: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 на Python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47515" y="269896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noProof="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Презентація курсу · налаштування середовища · перша програма</a:t>
            </a:r>
            <a:endParaRPr lang="uk-UA" sz="2000" noProof="0" dirty="0"/>
          </a:p>
        </p:txBody>
      </p:sp>
      <p:sp>
        <p:nvSpPr>
          <p:cNvPr id="7" name="Shape 5"/>
          <p:cNvSpPr/>
          <p:nvPr/>
        </p:nvSpPr>
        <p:spPr>
          <a:xfrm>
            <a:off x="2834640" y="4746230"/>
            <a:ext cx="201168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 txBox="1"/>
          <p:nvPr/>
        </p:nvSpPr>
        <p:spPr>
          <a:xfrm>
            <a:off x="2889504" y="474623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4920" y="4746230"/>
            <a:ext cx="201168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 txBox="1"/>
          <p:nvPr/>
        </p:nvSpPr>
        <p:spPr>
          <a:xfrm>
            <a:off x="5129784" y="474623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746230"/>
            <a:ext cx="201168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7370064" y="474623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практичної частини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студент має вміти робити наприкінці курсу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0607040" cy="777240"/>
          </a:xfrm>
          <a:prstGeom prst="roundRect">
            <a:avLst>
              <a:gd name="adj" fmla="val 1058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1051560" y="1417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Навчитися описувати технічну систему кодом: від вимірюваної фізичної величини до працюючої моделі, розрахунку та звіту.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78608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6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будувати алгоритм обробки даних на мові програмування Python</a:t>
            </a:r>
            <a:endParaRPr lang="uk-UA" sz="160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6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працювати з масивами вимірювань та їх візуалізацією</a:t>
            </a:r>
            <a:endParaRPr lang="uk-UA" sz="160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6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моделювати поведінку системи в часі й аналізувати похибки</a:t>
            </a:r>
            <a:endParaRPr lang="uk-UA" sz="160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6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зберігати результати у файлах, оформлювати звіт</a:t>
            </a:r>
            <a:endParaRPr lang="uk-UA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777240" y="448056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1005840" y="45902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 1–10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3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Програмування, розрахунок та графічне представлення результатів</a:t>
            </a:r>
            <a:endParaRPr lang="uk-UA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4389120" y="448056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4617720" y="45902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 11–18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програма-симулятор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01000" y="448056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8229600" y="45902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 19–24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3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Курсовий проєкт та залік</a:t>
            </a:r>
            <a:endParaRPr lang="uk-UA" sz="13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600" b="1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Python?</a:t>
            </a:r>
            <a:endParaRPr lang="uk-UA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 самі інженерні задачі, але текстовим кодом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51380" y="2688336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1858455" y="2871216"/>
            <a:ext cx="1576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500" b="1" noProof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мова</a:t>
            </a:r>
            <a:endParaRPr lang="uk-UA" sz="15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1079980" y="3465576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даних, модель, графіки, файли й звіт — в одному середовищі, без переходу між пакетами.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63260" y="2688336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4691860" y="28712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Безкоштовно і всюди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91860" y="3465576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на Windows, macOS і Linux. Не потребує ліцензії — можна встановити вдома й на будь-якому комп'ютері.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75140" y="2688336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8303740" y="28712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Навичка поза університетом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03740" y="3465576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робочий інструмент інженерії, аналітики й автоматизації, а не лише навчальний пакет.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КУРСУ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практичні заняття, два блоки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А дає інструмент, блок Б застосовує його до інженерної задачі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А · пари 1–18 · базовий практикум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005840" y="21945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  Типи даних, вирази, точність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  Логічні операції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  Цикли й побудова графіків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  Розгалуження, стани, Enum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 Масиви numpy, структури даних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 Візуалізація, XY-графіки, АФХ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 Функції та класи-симулятори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15–16 Рядки, регулярні вирази, таблиці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17–18 Файли CSV / JSON, підсумок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Б · пари 19–24 · курсовий проект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0116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492240" y="21945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  Модель об'єкта як клас Python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  Рівняння похибок, sympy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  Розрахунок </a:t>
            </a:r>
            <a:r>
              <a:rPr lang="en-US" sz="1200" dirty="0" err="1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коефіцієнтів</a:t>
            </a: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корекції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  Повна симуляція, графіки процесів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  Стійкість і вплив коефіцієнтів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  Оформлення звіту та захист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434840"/>
            <a:ext cx="4663440" cy="96012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6675120" y="44348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студент виконує проект за індивідуальним варіантом і захищає його на останньому </a:t>
            </a:r>
            <a:r>
              <a:rPr lang="en-US" sz="1200" b="1" dirty="0" err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занятті</a:t>
            </a: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чого складається підсумкова оцінка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вага — на регулярній роботі протягом семестру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2468880" cy="2148840"/>
          </a:xfrm>
          <a:prstGeom prst="roundRect">
            <a:avLst>
              <a:gd name="adj" fmla="val 383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88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 1–18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70248" y="1714994"/>
            <a:ext cx="2468880" cy="2148840"/>
          </a:xfrm>
          <a:prstGeom prst="roundRect">
            <a:avLst>
              <a:gd name="adj" fmla="val 383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4270248" y="188823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ru-RU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4453128" y="28117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Курсовий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1755648"/>
            <a:ext cx="2468880" cy="2148840"/>
          </a:xfrm>
          <a:prstGeom prst="roundRect">
            <a:avLst>
              <a:gd name="adj" fmla="val 383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7818120" y="176429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8117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контрольні питання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зарахування роботи: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4805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виконується без помилок і дає правильний результат на контрольних даних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завантажена у власний репозиторій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пояснює будь-який рядок свого коду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РОБОЧЕ СЕРЕДОВИЩЕ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600" b="1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Інструменти, які треба встановити</a:t>
            </a:r>
            <a:endParaRPr lang="uk-UA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безкоштовні; встановлення займає близько 20 хвилин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1033272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1214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інтерпретатор мови. Виконує код і містить стандартну бібліотеку.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python.org/downloads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382512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1214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 коду: підсвітка, автодоповнення, вбудований термінал і робота з Git.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code.visualstudio.com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1033272" y="3730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4133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контролю версій та місце, куди ви здаєте роботи.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 · github.com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5661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Shape 22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навіщо він потрібен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зберігає історію змін, тому жодна робоча версія не втрачається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877824" y="205740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Робоча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19272" y="26334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51960" y="205740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4306824" y="205740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Підготовлені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26334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63840" y="205740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7918704" y="205740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68512" y="34930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60920" y="3886200"/>
            <a:ext cx="3977640" cy="777240"/>
          </a:xfrm>
          <a:prstGeom prst="roundRect">
            <a:avLst>
              <a:gd name="adj" fmla="val 10588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7415784" y="388620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сюди викладач бачить вашу роботу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3886200"/>
            <a:ext cx="6035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3" name="Text 21"/>
          <p:cNvSpPr txBox="1"/>
          <p:nvPr/>
        </p:nvSpPr>
        <p:spPr>
          <a:xfrm>
            <a:off x="1051560" y="40416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дає на практиці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37083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повернутися до будь-якої попередньої версії коду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не зникне разом із флешкою чи ноутбуком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коли саме виконано завдання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набір команд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Цих семи команд вистачить на весь курс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60120" y="14813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"Ім'я"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481328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одноразове налаштування підпису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084832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960120" y="208483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&lt;адреса&gt;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8483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завантажити репозиторій на комп'ютер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2688336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960120" y="268833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8833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показати, що змінилося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291840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960120" y="329184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91840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всі зміни до наступного коміту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3895344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60120" y="389534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"Заняття 1"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895344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зафіксувати зміни з описом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4498848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960120" y="44988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498848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відправити зміни на GitHub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102352"/>
            <a:ext cx="53949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960120" y="510235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10235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забрати оновлення з GitHub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ТЕОРЕТИЧНА ОСНОВА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1264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600" b="1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Комп'ютерно-інтегрований комплекс</a:t>
            </a:r>
            <a:endParaRPr lang="uk-UA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554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877824" y="210312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Фізичний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51176" y="25968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54680" y="2103120"/>
            <a:ext cx="1554480" cy="1280160"/>
          </a:xfrm>
          <a:prstGeom prst="roundRect">
            <a:avLst>
              <a:gd name="adj" fmla="val 6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3209544" y="210312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82896" y="25968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2103120"/>
            <a:ext cx="1554480" cy="1280160"/>
          </a:xfrm>
          <a:prstGeom prst="roundRect">
            <a:avLst>
              <a:gd name="adj" fmla="val 64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5541264" y="210312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14616" y="25968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18120" y="2103120"/>
            <a:ext cx="1920240" cy="1280160"/>
          </a:xfrm>
          <a:prstGeom prst="roundRect">
            <a:avLst>
              <a:gd name="adj" fmla="val 6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7872984" y="210312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модель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4747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5840" y="4069080"/>
            <a:ext cx="1554480" cy="777240"/>
          </a:xfrm>
          <a:prstGeom prst="roundRect">
            <a:avLst>
              <a:gd name="adj" fmla="val 1058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1060704" y="406908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Керуючий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вплив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Зворотний зв'язок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26490" y="3914002"/>
            <a:ext cx="428779" cy="40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5" name="Text 23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250" b="1" noProof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Комп'ютерна програма потрібна на ділянці «дані → обробка → керуючий вплив».</a:t>
            </a:r>
            <a:endParaRPr lang="uk-UA" sz="1250" noProof="0" dirty="0"/>
          </a:p>
        </p:txBody>
      </p:sp>
      <p:sp>
        <p:nvSpPr>
          <p:cNvPr id="4" name="Text 21">
            <a:extLst>
              <a:ext uri="{FF2B5EF4-FFF2-40B4-BE49-F238E27FC236}">
                <a16:creationId xmlns:a16="http://schemas.microsoft.com/office/drawing/2014/main" id="{980F137B-43B4-60F4-81E3-7DDE55519734}"/>
              </a:ext>
            </a:extLst>
          </p:cNvPr>
          <p:cNvSpPr txBox="1"/>
          <p:nvPr/>
        </p:nvSpPr>
        <p:spPr>
          <a:xfrm rot="5400000">
            <a:off x="1399402" y="3490784"/>
            <a:ext cx="401595" cy="42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БАЗОВІ ПОНЯТТЯ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60120" y="1792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Фізична величина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221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властивість об'єкта, що вимірюється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3657600" y="1792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Вимірювання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221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величини з еталоном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355080" y="1792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Одиниця виміру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221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масштаб, у якому подано число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69680" y="16459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9052560" y="1792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221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числове представлення результату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0632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60120" y="3209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даних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9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число зберігається в пам'яті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0" y="30632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3657600" y="3209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3639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знаків має фізичний зміст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6355080" y="3209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3639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послідовність дій над даними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869680" y="30632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 txBox="1"/>
          <p:nvPr/>
        </p:nvSpPr>
        <p:spPr>
          <a:xfrm>
            <a:off x="9052560" y="3209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3639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алгоритм, записаний мовою Python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ВИМІРЮВАННЯ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Фізична величина ≠ число в програмі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 об'єктом і змінною стоїть кілька перетворень, і кожне додає похибку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877824" y="169164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0574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3346704" y="169164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АЦП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0574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0720" y="1691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5815584" y="169164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програмі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0574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8284464" y="169164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обчислень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Джерела похибки на цьому шляху: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3639312"/>
            <a:ext cx="2423160" cy="1481328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1005840" y="38221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похибка датчика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точності приладу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93008" y="3639312"/>
            <a:ext cx="2423160" cy="148132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3675888" y="38221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квантування АЦП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75888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скінченна розрядність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63056" y="3639312"/>
            <a:ext cx="2423160" cy="1481328"/>
          </a:xfrm>
          <a:prstGeom prst="roundRect">
            <a:avLst>
              <a:gd name="adj" fmla="val 55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6345936" y="38221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представлення float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двійкове наближення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833104" y="3639312"/>
            <a:ext cx="2423160" cy="1481328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 txBox="1"/>
          <p:nvPr/>
        </p:nvSpPr>
        <p:spPr>
          <a:xfrm>
            <a:off x="9015984" y="38221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округлення у звіті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15984" y="426110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втрата знаків при виводі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ДАНИХ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600" b="1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даних</a:t>
            </a:r>
            <a:endParaRPr lang="uk-UA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визначає, що можна робити зі значенням і скільки пам'яті воно займає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2468880" cy="306324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60120" y="1755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ціле число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420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вимірювань,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каналу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474720"/>
            <a:ext cx="21031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1033272" y="3474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600200"/>
            <a:ext cx="2468880" cy="3063240"/>
          </a:xfrm>
          <a:prstGeom prst="roundRect">
            <a:avLst>
              <a:gd name="adj" fmla="val 333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3657600" y="1755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дійсне число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5420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температура, тиск,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3474720"/>
            <a:ext cx="21031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 txBox="1"/>
          <p:nvPr/>
        </p:nvSpPr>
        <p:spPr>
          <a:xfrm>
            <a:off x="3730752" y="3474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36.6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2468880" cy="306324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6355080" y="1755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5420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 величини,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одиниця виміру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3474720"/>
            <a:ext cx="21031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5" name="Text 23"/>
          <p:cNvSpPr txBox="1"/>
          <p:nvPr/>
        </p:nvSpPr>
        <p:spPr>
          <a:xfrm>
            <a:off x="6428232" y="3474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"°C"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9680" y="1600200"/>
            <a:ext cx="2468880" cy="306324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9052560" y="1755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логічне значення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25420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 «норма» 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«аварія»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52560" y="3474720"/>
            <a:ext cx="21031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1" name="Text 29"/>
          <p:cNvSpPr txBox="1"/>
          <p:nvPr/>
        </p:nvSpPr>
        <p:spPr>
          <a:xfrm>
            <a:off x="9125712" y="3474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= True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Перевірити тип у Python:   type(t)   →   &lt;class 'float'&gt;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4" name="Text 32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типу — найчастіша причина того, що програма рахує «майже правильно».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0.1 + 0.2 не дорівнює 0.3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float зберігає число двійковим наближенням — це не помилка Python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64208"/>
            <a:ext cx="4855464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0.30000000000000004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 == 0.3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round(0.1 + 0.2, 3) == 0.3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49834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6629400" y="17190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 цього випливає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14884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дійсні числа не порівнюємо через ==, а через різницю та допуск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округлюємо лише при виводі, а не в середині розрахунку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 результату не може перевищувати точність вимірювання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48056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 txBox="1"/>
          <p:nvPr/>
        </p:nvSpPr>
        <p:spPr>
          <a:xfrm>
            <a:off x="1051560" y="45902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оформлення робіт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90118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подаємо з точністю до трьох знаків після коми, результати переводимо в систему СІ. У Python це f"{x:.3f}".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СЬОГОДНІШНЯ РОБОТА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виконання практичної роботи №1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500" noProof="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результат —програма у власному репозиторії</a:t>
            </a:r>
            <a:endParaRPr lang="uk-UA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2920" cy="512064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48132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63040" y="1481328"/>
            <a:ext cx="9921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737360" y="1481328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Встановити Python, VS Code, Git; перевірити версії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103120"/>
            <a:ext cx="502920" cy="512064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777240" y="210312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2103120"/>
            <a:ext cx="9921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1737360" y="2103120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репозиторій на GitHub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2670047"/>
            <a:ext cx="502920" cy="512064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5" name="Text 23"/>
          <p:cNvSpPr txBox="1"/>
          <p:nvPr/>
        </p:nvSpPr>
        <p:spPr>
          <a:xfrm>
            <a:off x="777240" y="2651759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500" b="1" dirty="0">
                <a:solidFill>
                  <a:srgbClr val="2563EB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463040" y="2695256"/>
            <a:ext cx="9921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1714500" y="2670789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програму, яка виводить ваше ім'я та по-батькові</a:t>
            </a:r>
            <a:endParaRPr lang="uk-UA" sz="1300" noProof="0" dirty="0"/>
          </a:p>
        </p:txBody>
      </p:sp>
      <p:sp>
        <p:nvSpPr>
          <p:cNvPr id="32" name="Shape 30"/>
          <p:cNvSpPr/>
          <p:nvPr/>
        </p:nvSpPr>
        <p:spPr>
          <a:xfrm>
            <a:off x="784860" y="3249582"/>
            <a:ext cx="502920" cy="512064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3" name="Text 31"/>
          <p:cNvSpPr txBox="1"/>
          <p:nvPr/>
        </p:nvSpPr>
        <p:spPr>
          <a:xfrm>
            <a:off x="777240" y="3163823"/>
            <a:ext cx="502920" cy="667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500" b="1" dirty="0">
                <a:solidFill>
                  <a:srgbClr val="2563EB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463040" y="3270833"/>
            <a:ext cx="9921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5" name="Text 33"/>
          <p:cNvSpPr txBox="1"/>
          <p:nvPr/>
        </p:nvSpPr>
        <p:spPr>
          <a:xfrm>
            <a:off x="1714500" y="3246120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ідправити роботу на GitHub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вашого репозиторію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591056"/>
            <a:ext cx="6089904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kik-praktykum/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прізвище, група, номер у списку студентів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praktyka_01/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task_01.py     розв'язок завдання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praktyka_02/</a:t>
            </a:r>
            <a:endParaRPr lang="uk-UA" sz="12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uk-UA" sz="1200" noProof="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...</a:t>
            </a:r>
            <a:endParaRPr lang="uk-UA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7680960" y="1481328"/>
            <a:ext cx="3703320" cy="16459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7909560" y="162763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іменування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97510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латиниця, без пробілів, малими літерами, слова через підкреслення.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Файли .venv та __pycache__ у репозиторій не потрапляють — для цього і потрібен .gitignore.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ЗДАТИ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критерії оцінювання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зараховується тоді, коли студент може пояснити кожен її рядок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роботи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51206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051560" y="22128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25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репозиторій на GitHub із правильною структурою</a:t>
            </a:r>
            <a:endParaRPr lang="uk-UA" sz="125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25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praktyka_01/task_01.py</a:t>
            </a:r>
            <a:endParaRPr lang="uk-UA" sz="125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uk-UA" sz="1250" noProof="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із прізвищем та групою студента</a:t>
            </a:r>
            <a:endParaRPr lang="uk-UA" sz="1250" noProof="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 захисту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011680"/>
            <a:ext cx="51206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537960" y="22128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запускається без помилок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4237</TotalTime>
  <Words>1507</Words>
  <Application>Microsoft Macintosh PowerPoint</Application>
  <PresentationFormat>Widescreen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Михайло Гулевич</cp:lastModifiedBy>
  <cp:revision>6</cp:revision>
  <dcterms:created xsi:type="dcterms:W3CDTF">2026-09-02T20:45:09Z</dcterms:created>
  <dcterms:modified xsi:type="dcterms:W3CDTF">2026-09-05T19:32:36Z</dcterms:modified>
</cp:coreProperties>
</file>